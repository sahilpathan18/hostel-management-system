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840480" cy="384048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40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MANAGEMENT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Smarter, Safer Way to Run Our Hostel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connected system for outings, safety and communication - built for students, parents, wardens and hostel administration.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Sahil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TODAY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processes create delays and safety gaps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74920" cy="2103120"/>
          </a:xfrm>
          <a:prstGeom prst="roundRect">
            <a:avLst>
              <a:gd name="adj" fmla="val 5217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212140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entry/exit registers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37360" y="2670048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movement is logged by hand at the gate - slow and easy to falsify.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1828800"/>
            <a:ext cx="5074920" cy="2103120"/>
          </a:xfrm>
          <a:prstGeom prst="roundRect">
            <a:avLst>
              <a:gd name="adj" fmla="val 5217"/>
            </a:avLst>
          </a:prstGeom>
          <a:solidFill>
            <a:srgbClr val="F4FA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1488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69480" y="212140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Outing approvals by phone call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69480" y="2670048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Wardens and parents coordinate approvals over calls, with no record kept.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5074920" cy="2103120"/>
          </a:xfrm>
          <a:prstGeom prst="roundRect">
            <a:avLst>
              <a:gd name="adj" fmla="val 5217"/>
            </a:avLst>
          </a:prstGeom>
          <a:solidFill>
            <a:srgbClr val="F4FA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5720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572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37360" y="454456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visibility for parents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7360" y="5093208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have no real-time view of their child's whereabouts or outing status.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4251960"/>
            <a:ext cx="5074920" cy="2103120"/>
          </a:xfrm>
          <a:prstGeom prst="roundRect">
            <a:avLst>
              <a:gd name="adj" fmla="val 5217"/>
            </a:avLst>
          </a:prstGeom>
          <a:solidFill>
            <a:srgbClr val="F4FA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5720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572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69480" y="454456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automated emergency alerting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69480" y="5093208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real emergency, minutes matter - but nothing today alerts staff automatically.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Management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roles, four different views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sees only what's relevant to them - deliberately restricted, for privacy and safety.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3291840"/>
          </a:xfrm>
          <a:prstGeom prst="roundRect">
            <a:avLst>
              <a:gd name="adj" fmla="val 4912"/>
            </a:avLst>
          </a:prstGeom>
          <a:solidFill>
            <a:srgbClr val="05414A"/>
          </a:solidFill>
          <a:ln/>
        </p:spPr>
      </p:sp>
      <p:sp>
        <p:nvSpPr>
          <p:cNvPr id="6" name="Shape 4"/>
          <p:cNvSpPr/>
          <p:nvPr/>
        </p:nvSpPr>
        <p:spPr>
          <a:xfrm>
            <a:off x="1485900" y="246888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48590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3429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3840480"/>
            <a:ext cx="220370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outings, chats with their warden, files complaints, and can trigger an emergency alert.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3429000" y="2148840"/>
            <a:ext cx="2606040" cy="3291840"/>
          </a:xfrm>
          <a:prstGeom prst="roundRect">
            <a:avLst>
              <a:gd name="adj" fmla="val 4912"/>
            </a:avLst>
          </a:prstGeom>
          <a:solidFill>
            <a:srgbClr val="05414A"/>
          </a:solidFill>
          <a:ln/>
        </p:spPr>
      </p:sp>
      <p:sp>
        <p:nvSpPr>
          <p:cNvPr id="11" name="Shape 9"/>
          <p:cNvSpPr/>
          <p:nvPr/>
        </p:nvSpPr>
        <p:spPr>
          <a:xfrm>
            <a:off x="4366260" y="246888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36626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66160" y="3429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30168" y="3840480"/>
            <a:ext cx="220370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or rejects outing requests, receives emergency alerts, and chats with the warden.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309360" y="2148840"/>
            <a:ext cx="2606040" cy="3291840"/>
          </a:xfrm>
          <a:prstGeom prst="roundRect">
            <a:avLst>
              <a:gd name="adj" fmla="val 4912"/>
            </a:avLst>
          </a:prstGeom>
          <a:solidFill>
            <a:srgbClr val="05414A"/>
          </a:solidFill>
          <a:ln/>
        </p:spPr>
      </p:sp>
      <p:sp>
        <p:nvSpPr>
          <p:cNvPr id="16" name="Shape 14"/>
          <p:cNvSpPr/>
          <p:nvPr/>
        </p:nvSpPr>
        <p:spPr>
          <a:xfrm>
            <a:off x="7246620" y="246888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724662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46520" y="3429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Warden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10528" y="3840480"/>
            <a:ext cx="220370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outings, manages complaints, broadcasts announcements, and responds to alerts in real time.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9189720" y="2148840"/>
            <a:ext cx="2606040" cy="3291840"/>
          </a:xfrm>
          <a:prstGeom prst="roundRect">
            <a:avLst>
              <a:gd name="adj" fmla="val 4912"/>
            </a:avLst>
          </a:prstGeom>
          <a:solidFill>
            <a:srgbClr val="05414A"/>
          </a:solidFill>
          <a:ln/>
        </p:spPr>
      </p:sp>
      <p:sp>
        <p:nvSpPr>
          <p:cNvPr id="21" name="Shape 19"/>
          <p:cNvSpPr/>
          <p:nvPr/>
        </p:nvSpPr>
        <p:spPr>
          <a:xfrm>
            <a:off x="10126980" y="246888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1012698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26880" y="3429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90888" y="3840480"/>
            <a:ext cx="220370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hostels, rooms and staff institution-wide, and views reports and audit logs.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Management 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connected modules, one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 of hostel life - outings, safety, communication - gets its own dedicated module. All seven are covered in detail on the following pages.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5168" y="2011680"/>
            <a:ext cx="2514600" cy="1600200"/>
          </a:xfrm>
          <a:prstGeom prst="roundRect">
            <a:avLst>
              <a:gd name="adj" fmla="val 6857"/>
            </a:avLst>
          </a:prstGeom>
          <a:solidFill>
            <a:srgbClr val="F4FAF9"/>
          </a:solidFill>
          <a:ln/>
        </p:spPr>
      </p:sp>
      <p:sp>
        <p:nvSpPr>
          <p:cNvPr id="6" name="Shape 4"/>
          <p:cNvSpPr/>
          <p:nvPr/>
        </p:nvSpPr>
        <p:spPr>
          <a:xfrm>
            <a:off x="856336" y="223113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56336" y="2231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9760" y="2788920"/>
            <a:ext cx="2185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Outing Requests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Approval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19760" y="3154680"/>
            <a:ext cx="21854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Request, approve and verify every outing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444088" y="2011680"/>
            <a:ext cx="2514600" cy="1600200"/>
          </a:xfrm>
          <a:prstGeom prst="roundRect">
            <a:avLst>
              <a:gd name="adj" fmla="val 6857"/>
            </a:avLst>
          </a:prstGeom>
          <a:solidFill>
            <a:srgbClr val="F4FAF9"/>
          </a:solidFill>
          <a:ln/>
        </p:spPr>
      </p:sp>
      <p:sp>
        <p:nvSpPr>
          <p:cNvPr id="11" name="Shape 9"/>
          <p:cNvSpPr/>
          <p:nvPr/>
        </p:nvSpPr>
        <p:spPr>
          <a:xfrm>
            <a:off x="3645256" y="223113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645256" y="2231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08680" y="2788920"/>
            <a:ext cx="2185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Biometric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08680" y="3154680"/>
            <a:ext cx="21854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gate scans replace paper registers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233008" y="2011680"/>
            <a:ext cx="2514600" cy="1600200"/>
          </a:xfrm>
          <a:prstGeom prst="roundRect">
            <a:avLst>
              <a:gd name="adj" fmla="val 6857"/>
            </a:avLst>
          </a:prstGeom>
          <a:solidFill>
            <a:srgbClr val="F4FAF9"/>
          </a:solidFill>
          <a:ln/>
        </p:spPr>
      </p:sp>
      <p:sp>
        <p:nvSpPr>
          <p:cNvPr id="16" name="Shape 14"/>
          <p:cNvSpPr/>
          <p:nvPr/>
        </p:nvSpPr>
        <p:spPr>
          <a:xfrm>
            <a:off x="6434176" y="223113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34176" y="2231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97600" y="2788920"/>
            <a:ext cx="2185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Geofencing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97600" y="3154680"/>
            <a:ext cx="21854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if a student leaves campus, automatically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9021928" y="2011680"/>
            <a:ext cx="2514600" cy="1600200"/>
          </a:xfrm>
          <a:prstGeom prst="roundRect">
            <a:avLst>
              <a:gd name="adj" fmla="val 6857"/>
            </a:avLst>
          </a:prstGeom>
          <a:solidFill>
            <a:srgbClr val="F4FAF9"/>
          </a:solidFill>
          <a:ln/>
        </p:spPr>
      </p:sp>
      <p:sp>
        <p:nvSpPr>
          <p:cNvPr id="21" name="Shape 19"/>
          <p:cNvSpPr/>
          <p:nvPr/>
        </p:nvSpPr>
        <p:spPr>
          <a:xfrm>
            <a:off x="9223096" y="223113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9223096" y="2231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86520" y="2788920"/>
            <a:ext cx="2185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186520" y="3154680"/>
            <a:ext cx="21854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SOS, whether online or offline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2049628" y="3886200"/>
            <a:ext cx="2514600" cy="1600200"/>
          </a:xfrm>
          <a:prstGeom prst="roundRect">
            <a:avLst>
              <a:gd name="adj" fmla="val 6857"/>
            </a:avLst>
          </a:prstGeom>
          <a:solidFill>
            <a:srgbClr val="F4FAF9"/>
          </a:solidFill>
          <a:ln/>
        </p:spPr>
      </p:sp>
      <p:sp>
        <p:nvSpPr>
          <p:cNvPr id="26" name="Shape 24"/>
          <p:cNvSpPr/>
          <p:nvPr/>
        </p:nvSpPr>
        <p:spPr>
          <a:xfrm>
            <a:off x="2250796" y="4105656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2250796" y="4105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214220" y="4663440"/>
            <a:ext cx="2185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&amp;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Announcements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214220" y="5029200"/>
            <a:ext cx="21854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messaging plus warden broadcasts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4838548" y="3886200"/>
            <a:ext cx="2514600" cy="1600200"/>
          </a:xfrm>
          <a:prstGeom prst="roundRect">
            <a:avLst>
              <a:gd name="adj" fmla="val 6857"/>
            </a:avLst>
          </a:prstGeom>
          <a:solidFill>
            <a:srgbClr val="F4FAF9"/>
          </a:solidFill>
          <a:ln/>
        </p:spPr>
      </p:sp>
      <p:sp>
        <p:nvSpPr>
          <p:cNvPr id="31" name="Shape 29"/>
          <p:cNvSpPr/>
          <p:nvPr/>
        </p:nvSpPr>
        <p:spPr>
          <a:xfrm>
            <a:off x="5039716" y="4105656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2" name="Text 30"/>
          <p:cNvSpPr/>
          <p:nvPr/>
        </p:nvSpPr>
        <p:spPr>
          <a:xfrm>
            <a:off x="5039716" y="4105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03140" y="4663440"/>
            <a:ext cx="2185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003140" y="5029200"/>
            <a:ext cx="21854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with a photo, tracked to resolution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7627468" y="3886200"/>
            <a:ext cx="2514600" cy="1600200"/>
          </a:xfrm>
          <a:prstGeom prst="roundRect">
            <a:avLst>
              <a:gd name="adj" fmla="val 6857"/>
            </a:avLst>
          </a:prstGeom>
          <a:solidFill>
            <a:srgbClr val="F4FAF9"/>
          </a:solidFill>
          <a:ln/>
        </p:spPr>
      </p:sp>
      <p:sp>
        <p:nvSpPr>
          <p:cNvPr id="36" name="Shape 34"/>
          <p:cNvSpPr/>
          <p:nvPr/>
        </p:nvSpPr>
        <p:spPr>
          <a:xfrm>
            <a:off x="7828636" y="4105656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7" name="Text 35"/>
          <p:cNvSpPr/>
          <p:nvPr/>
        </p:nvSpPr>
        <p:spPr>
          <a:xfrm>
            <a:off x="7828636" y="4105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792060" y="4663440"/>
            <a:ext cx="2185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792060" y="5029200"/>
            <a:ext cx="21854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alerts with SMS as a backup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Management System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FOR STUDENTS &amp; PARENTS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9692640" y="457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Outing Request &amp; Approval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Requesting to step out, approved by the people who should know.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942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214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submits a request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459736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reason and expected return time - no office visit needed.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182112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05409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 and warden approve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3392424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is routed to both for sign-off before it's confirmed.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9867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Checked against the gate automatically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" y="4325112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compares it with real fingerprint scans, and flags it if the student is late returning - no one has to check manually.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635240" y="2377440"/>
            <a:ext cx="868680" cy="1234440"/>
          </a:xfrm>
          <a:prstGeom prst="roundRect">
            <a:avLst>
              <a:gd name="adj" fmla="val 10526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2468880"/>
            <a:ext cx="777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522208" y="2912364"/>
            <a:ext cx="128016" cy="164592"/>
          </a:xfrm>
          <a:prstGeom prst="rightArrow">
            <a:avLst/>
          </a:prstGeom>
          <a:solidFill>
            <a:srgbClr val="9FCBC8"/>
          </a:solidFill>
          <a:ln/>
        </p:spPr>
      </p:sp>
      <p:sp>
        <p:nvSpPr>
          <p:cNvPr id="18" name="Shape 16"/>
          <p:cNvSpPr/>
          <p:nvPr/>
        </p:nvSpPr>
        <p:spPr>
          <a:xfrm>
            <a:off x="8668512" y="2377440"/>
            <a:ext cx="868680" cy="1234440"/>
          </a:xfrm>
          <a:prstGeom prst="roundRect">
            <a:avLst>
              <a:gd name="adj" fmla="val 10526"/>
            </a:avLst>
          </a:prstGeom>
          <a:solidFill>
            <a:srgbClr val="F4FAF9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14232" y="2468880"/>
            <a:ext cx="777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 approve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555480" y="2912364"/>
            <a:ext cx="128016" cy="164592"/>
          </a:xfrm>
          <a:prstGeom prst="rightArrow">
            <a:avLst/>
          </a:prstGeom>
          <a:solidFill>
            <a:srgbClr val="9FCBC8"/>
          </a:solidFill>
          <a:ln/>
        </p:spPr>
      </p:sp>
      <p:sp>
        <p:nvSpPr>
          <p:cNvPr id="21" name="Shape 19"/>
          <p:cNvSpPr/>
          <p:nvPr/>
        </p:nvSpPr>
        <p:spPr>
          <a:xfrm>
            <a:off x="9701784" y="2377440"/>
            <a:ext cx="868680" cy="1234440"/>
          </a:xfrm>
          <a:prstGeom prst="roundRect">
            <a:avLst>
              <a:gd name="adj" fmla="val 10526"/>
            </a:avLst>
          </a:prstGeom>
          <a:solidFill>
            <a:srgbClr val="F4FAF9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47504" y="2468880"/>
            <a:ext cx="777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scan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588752" y="2912364"/>
            <a:ext cx="128016" cy="164592"/>
          </a:xfrm>
          <a:prstGeom prst="rightArrow">
            <a:avLst/>
          </a:prstGeom>
          <a:solidFill>
            <a:srgbClr val="9FCBC8"/>
          </a:solidFill>
          <a:ln/>
        </p:spPr>
      </p:sp>
      <p:sp>
        <p:nvSpPr>
          <p:cNvPr id="24" name="Shape 22"/>
          <p:cNvSpPr/>
          <p:nvPr/>
        </p:nvSpPr>
        <p:spPr>
          <a:xfrm>
            <a:off x="10735056" y="2377440"/>
            <a:ext cx="868680" cy="1234440"/>
          </a:xfrm>
          <a:prstGeom prst="roundRect">
            <a:avLst>
              <a:gd name="adj" fmla="val 10526"/>
            </a:avLst>
          </a:prstGeom>
          <a:solidFill>
            <a:srgbClr val="F4FAF9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0776" y="2468880"/>
            <a:ext cx="777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auto-flagged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Management System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AT THE GATE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9692640" y="457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9F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Biometric Attendance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fingerprint scan replaces the paper entry/exit register.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942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214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logging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459736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fingerprint scanner at each hostel gate records every entry and exit - no manual sign-in.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18211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05409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Instantly reconciled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3392424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scan is checked against approved outing requests in real time.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9867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more falsified entries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" y="4325112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it's a fingerprint, not a signature, the record can be trusted.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0" y="2286000"/>
            <a:ext cx="2743200" cy="2926080"/>
          </a:xfrm>
          <a:prstGeom prst="roundRect">
            <a:avLst>
              <a:gd name="adj" fmla="val 5000"/>
            </a:avLst>
          </a:prstGeom>
          <a:ln w="3175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98280" y="3246120"/>
            <a:ext cx="1005840" cy="1280160"/>
          </a:xfrm>
          <a:prstGeom prst="roundRect">
            <a:avLst>
              <a:gd name="adj" fmla="val 18182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9098280" y="3246120"/>
            <a:ext cx="1005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498080" y="2697480"/>
            <a:ext cx="640080" cy="320040"/>
          </a:xfrm>
          <a:prstGeom prst="leftArrow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7452360" y="3063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1064240" y="4343400"/>
            <a:ext cx="640080" cy="32004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11018520" y="4709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GATE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Management System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SAFETY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9692640" y="457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Geofencing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if a student has left campus, without draining their battery.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942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214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virtual boundary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459736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boundary line is drawn around the hostel or campus.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182112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05409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Checked periodically, not constantly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3392424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checks in occasionally instead of streaming live GPS - lighter on battery and more private.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9867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Visible only to warden &amp; admin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" y="4325112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location data is restricted to staff who need it - not even parents can see it.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635240" y="2423160"/>
            <a:ext cx="3200400" cy="3200400"/>
          </a:xfrm>
          <a:prstGeom prst="ellipse">
            <a:avLst/>
          </a:prstGeom>
          <a:ln w="31750">
            <a:solidFill>
              <a:srgbClr val="028090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7635240" y="2057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BOUNDARY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13648" y="3630168"/>
            <a:ext cx="237744" cy="23774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82328" y="4087368"/>
            <a:ext cx="237744" cy="23774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25128" y="4498848"/>
            <a:ext cx="237744" cy="23774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35640" y="2423160"/>
            <a:ext cx="274320" cy="274320"/>
          </a:xfrm>
          <a:prstGeom prst="ellipse">
            <a:avLst/>
          </a:prstGeom>
          <a:solidFill>
            <a:srgbClr val="E6394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18120" y="5971032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0" y="588873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campus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372600" y="5971032"/>
            <a:ext cx="164592" cy="16459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0" y="588873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crossed = alert sent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Management 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SAFETY-CRITICAL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9692640" y="457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9F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 Alerts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work with or without internet, and to never wait in line behind other traffic.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120640" cy="3794760"/>
          </a:xfrm>
          <a:prstGeom prst="roundRect">
            <a:avLst>
              <a:gd name="adj" fmla="val 3373"/>
            </a:avLst>
          </a:prstGeom>
          <a:solidFill>
            <a:srgbClr val="05414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ONLINE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269748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presses SOS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7033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6576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the normal queue entirely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6634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46177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push notification + live alert to warden's app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89320" y="1965960"/>
            <a:ext cx="5120640" cy="3794760"/>
          </a:xfrm>
          <a:prstGeom prst="roundRect">
            <a:avLst>
              <a:gd name="adj" fmla="val 3373"/>
            </a:avLst>
          </a:prstGeom>
          <a:solidFill>
            <a:srgbClr val="05414A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OFFLINE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274320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0" y="269748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presses SOS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370332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0" y="36576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as a direct SMS over the cellular network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466344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0" y="46177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the warden's number and a gateway - synced to records once back online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58978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way, the student's last known location is included with the alert.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Management System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COMMUNICATION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9692640" y="457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9F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&amp; Warden Announcements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very different kinds of messages, handled differently.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942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214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1-on-1 chat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459736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can only message their own assigned warden. Parents get a separate private chat with the same warden.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18211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05409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One-way broadcasts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3392424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warden can send a single announcement to every student in their hostel at once.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9867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student-to-student or student-to-parent messaging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" y="4325112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deliberately keeps these channels separate.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0" y="2103120"/>
            <a:ext cx="2468880" cy="502920"/>
          </a:xfrm>
          <a:prstGeom prst="roundRect">
            <a:avLst>
              <a:gd name="adj" fmla="val 47273"/>
            </a:avLst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909560" y="2103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-&gt; Warden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0" y="2788920"/>
            <a:ext cx="2468880" cy="502920"/>
          </a:xfrm>
          <a:prstGeom prst="roundRect">
            <a:avLst>
              <a:gd name="adj" fmla="val 47273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909560" y="27889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-&gt; Warden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0" y="3474720"/>
            <a:ext cx="2468880" cy="502920"/>
          </a:xfrm>
          <a:prstGeom prst="roundRect">
            <a:avLst>
              <a:gd name="adj" fmla="val 47273"/>
            </a:avLst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7909560" y="34747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 -&gt; All Students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4023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F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(broadcast, one-way)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Management System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FOR EVERYONE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9692640" y="457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Complaints Management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broken fan to a complaint about the warden - both handled properly.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942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214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with a photo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459736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file complaints - maintenance, mess, and more - with an optional photo.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182112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05409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Routed to the warden by default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3392424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complaints go straight to the assigned warden for action.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9867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sent directly to admin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" y="4325112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complaint is about the warden, it can skip them entirely and go to admin.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965960"/>
            <a:ext cx="2103120" cy="640080"/>
          </a:xfrm>
          <a:prstGeom prst="roundRect">
            <a:avLst>
              <a:gd name="adj" fmla="val 17143"/>
            </a:avLst>
          </a:prstGeom>
          <a:solidFill>
            <a:srgbClr val="F4FAF9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19659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files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52560" y="2670048"/>
            <a:ext cx="274320" cy="320040"/>
          </a:xfrm>
          <a:prstGeom prst="downArrow">
            <a:avLst/>
          </a:prstGeom>
          <a:solidFill>
            <a:srgbClr val="C7DAD7"/>
          </a:solidFill>
          <a:ln/>
        </p:spPr>
      </p:sp>
      <p:sp>
        <p:nvSpPr>
          <p:cNvPr id="18" name="Shape 16"/>
          <p:cNvSpPr/>
          <p:nvPr/>
        </p:nvSpPr>
        <p:spPr>
          <a:xfrm>
            <a:off x="7635240" y="3108960"/>
            <a:ext cx="1600200" cy="685800"/>
          </a:xfrm>
          <a:prstGeom prst="roundRect">
            <a:avLst>
              <a:gd name="adj" fmla="val 16000"/>
            </a:avLst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7635240" y="31089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(default)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418320" y="3108960"/>
            <a:ext cx="1691640" cy="6858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9418320" y="310896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 about warden)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275320" y="4160520"/>
            <a:ext cx="1920240" cy="594360"/>
          </a:xfrm>
          <a:prstGeom prst="roundRect">
            <a:avLst>
              <a:gd name="adj" fmla="val 18462"/>
            </a:avLst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8275320" y="41605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Management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KEEPING EVERYONE INFORMED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9692640" y="457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9F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Approvals, alerts and complaint updates, delivered reliably.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942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214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notifications first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459736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app notifications for approvals, complaint status changes and alerts.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18211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05409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SMS as a fallback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3392424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push notification delivery fails, a text message backs it up.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9867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stays in the loop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" y="4325112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parents and wardens all get updates relevant to them.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55280" y="2286000"/>
            <a:ext cx="3291840" cy="731520"/>
          </a:xfrm>
          <a:prstGeom prst="roundRect">
            <a:avLst>
              <a:gd name="adj" fmla="val 15000"/>
            </a:avLst>
          </a:prstGeom>
          <a:solidFill>
            <a:srgbClr val="05414A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2560320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22860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955280" y="3291840"/>
            <a:ext cx="3291840" cy="731520"/>
          </a:xfrm>
          <a:prstGeom prst="roundRect">
            <a:avLst>
              <a:gd name="adj" fmla="val 15000"/>
            </a:avLst>
          </a:prstGeom>
          <a:solidFill>
            <a:srgbClr val="05414A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3566160"/>
            <a:ext cx="182880" cy="1828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0" name="Text 18"/>
          <p:cNvSpPr/>
          <p:nvPr/>
        </p:nvSpPr>
        <p:spPr>
          <a:xfrm>
            <a:off x="8458200" y="32918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55280" y="4297680"/>
            <a:ext cx="3291840" cy="731520"/>
          </a:xfrm>
          <a:prstGeom prst="roundRect">
            <a:avLst>
              <a:gd name="adj" fmla="val 15000"/>
            </a:avLst>
          </a:prstGeom>
          <a:solidFill>
            <a:srgbClr val="05414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457200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8458200" y="42976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updates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Management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outing request, start to finish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below is logged automatically - a clear, auditable record every time.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468880"/>
            <a:ext cx="2331720" cy="1554480"/>
          </a:xfrm>
          <a:prstGeom prst="roundRect">
            <a:avLst>
              <a:gd name="adj" fmla="val 8235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1620" y="214884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53162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submits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outing request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90672" y="3108960"/>
            <a:ext cx="356616" cy="274320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0" name="Shape 8"/>
          <p:cNvSpPr/>
          <p:nvPr/>
        </p:nvSpPr>
        <p:spPr>
          <a:xfrm>
            <a:off x="3520440" y="2468880"/>
            <a:ext cx="2331720" cy="1554480"/>
          </a:xfrm>
          <a:prstGeom prst="roundRect">
            <a:avLst>
              <a:gd name="adj" fmla="val 8235"/>
            </a:avLst>
          </a:prstGeom>
          <a:solidFill>
            <a:srgbClr val="F4FAF9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6260" y="21488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36626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2971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&amp; warden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25312" y="3108960"/>
            <a:ext cx="356616" cy="274320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15" name="Shape 13"/>
          <p:cNvSpPr/>
          <p:nvPr/>
        </p:nvSpPr>
        <p:spPr>
          <a:xfrm>
            <a:off x="6355080" y="2468880"/>
            <a:ext cx="2331720" cy="1554480"/>
          </a:xfrm>
          <a:prstGeom prst="roundRect">
            <a:avLst>
              <a:gd name="adj" fmla="val 8235"/>
            </a:avLst>
          </a:prstGeom>
          <a:solidFill>
            <a:srgbClr val="F4FAF9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00900" y="21488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720090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2971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scan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exit &amp; entry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759952" y="3108960"/>
            <a:ext cx="356616" cy="274320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20" name="Shape 18"/>
          <p:cNvSpPr/>
          <p:nvPr/>
        </p:nvSpPr>
        <p:spPr>
          <a:xfrm>
            <a:off x="9189720" y="2468880"/>
            <a:ext cx="2331720" cy="1554480"/>
          </a:xfrm>
          <a:prstGeom prst="roundRect">
            <a:avLst>
              <a:gd name="adj" fmla="val 8235"/>
            </a:avLst>
          </a:prstGeom>
          <a:solidFill>
            <a:srgbClr val="F4FAF9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35540" y="21488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1003554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26880" y="2971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time, 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auto-flagged overdue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Management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HELPS US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benefits for our institution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14600" cy="3291840"/>
          </a:xfrm>
          <a:prstGeom prst="roundRect">
            <a:avLst>
              <a:gd name="adj" fmla="val 5091"/>
            </a:avLst>
          </a:prstGeom>
          <a:solidFill>
            <a:srgbClr val="05414A"/>
          </a:solidFill>
          <a:ln/>
        </p:spPr>
      </p:sp>
      <p:sp>
        <p:nvSpPr>
          <p:cNvPr id="5" name="Shape 3"/>
          <p:cNvSpPr/>
          <p:nvPr/>
        </p:nvSpPr>
        <p:spPr>
          <a:xfrm>
            <a:off x="1394460" y="24688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394460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3520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alerts and verified attendance mean faster response when it matters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383280" y="2103120"/>
            <a:ext cx="2514600" cy="3291840"/>
          </a:xfrm>
          <a:prstGeom prst="roundRect">
            <a:avLst>
              <a:gd name="adj" fmla="val 5091"/>
            </a:avLst>
          </a:prstGeom>
          <a:solidFill>
            <a:srgbClr val="05414A"/>
          </a:solidFill>
          <a:ln/>
        </p:spPr>
      </p:sp>
      <p:sp>
        <p:nvSpPr>
          <p:cNvPr id="10" name="Shape 8"/>
          <p:cNvSpPr/>
          <p:nvPr/>
        </p:nvSpPr>
        <p:spPr>
          <a:xfrm>
            <a:off x="4229100" y="24688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229100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20440" y="3520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Trusted by parents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66160" y="402336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and approval instead of a phone call and hoping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217920" y="2103120"/>
            <a:ext cx="2514600" cy="3291840"/>
          </a:xfrm>
          <a:prstGeom prst="roundRect">
            <a:avLst>
              <a:gd name="adj" fmla="val 5091"/>
            </a:avLst>
          </a:prstGeom>
          <a:solidFill>
            <a:srgbClr val="05414A"/>
          </a:solidFill>
          <a:ln/>
        </p:spPr>
      </p:sp>
      <p:sp>
        <p:nvSpPr>
          <p:cNvPr id="15" name="Shape 13"/>
          <p:cNvSpPr/>
          <p:nvPr/>
        </p:nvSpPr>
        <p:spPr>
          <a:xfrm>
            <a:off x="7063740" y="24688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063740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55080" y="3520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Accountable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0" y="402336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approval and access to sensitive data is logged and auditable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9052560" y="2103120"/>
            <a:ext cx="2514600" cy="3291840"/>
          </a:xfrm>
          <a:prstGeom prst="roundRect">
            <a:avLst>
              <a:gd name="adj" fmla="val 5091"/>
            </a:avLst>
          </a:prstGeom>
          <a:solidFill>
            <a:srgbClr val="05414A"/>
          </a:solidFill>
          <a:ln/>
        </p:spPr>
      </p:sp>
      <p:sp>
        <p:nvSpPr>
          <p:cNvPr id="20" name="Shape 18"/>
          <p:cNvSpPr/>
          <p:nvPr/>
        </p:nvSpPr>
        <p:spPr>
          <a:xfrm>
            <a:off x="9898380" y="24688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9898380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89720" y="3520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402336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paper registers or manual reconciliation of who's in or out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Management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BUDGET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- one-time cost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kit needed at the hostel gate for biometric attendance.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978408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429000" y="1920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52360" y="19202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54964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(Rs)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9784080" cy="566928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43230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MFS100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Scanner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29000" y="243230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attendance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hostel gate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452360" y="243230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549640" y="243230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944368"/>
            <a:ext cx="97840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9992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 (4GB)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kiosk device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29000" y="299923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scanner SDK,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syncs to backend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52360" y="299923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49640" y="299923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5,500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511296"/>
            <a:ext cx="9784080" cy="566928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566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UPS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unit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29000" y="3566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backup for kiosk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outages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52360" y="35661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549640" y="3566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078224"/>
            <a:ext cx="97840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13308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cabling &amp;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setup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29000" y="41330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gate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52360" y="413308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549640" y="413308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4645152"/>
            <a:ext cx="9784080" cy="566928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70001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Miscellaneous (cables,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casing, mounting)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429000" y="470001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 housing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hostel gate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452360" y="470001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549640" y="470001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5212080"/>
            <a:ext cx="9784080" cy="0"/>
          </a:xfrm>
          <a:prstGeom prst="line">
            <a:avLst/>
          </a:prstGeom>
          <a:noFill/>
          <a:ln w="12700">
            <a:solidFill>
              <a:srgbClr val="DCED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Management System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040880" y="54406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39" name="Text 37"/>
          <p:cNvSpPr/>
          <p:nvPr/>
        </p:nvSpPr>
        <p:spPr>
          <a:xfrm>
            <a:off x="7040880" y="5440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Subtotal: Rs 14,000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BUDGET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&amp; services - one-time / annual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 and certificates needed to publish and secure the app - cross-platform, so both stores are required.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978408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337560" y="19202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92440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(Rs/year)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9784080" cy="777240"/>
          </a:xfrm>
          <a:prstGeom prst="rect">
            <a:avLst/>
          </a:prstGeom>
          <a:solidFill>
            <a:srgbClr val="05414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32304"/>
            <a:ext cx="23774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name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37560" y="2432304"/>
            <a:ext cx="44805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URL,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for HTTPS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92440" y="2432304"/>
            <a:ext cx="21031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9784080" cy="777240"/>
          </a:xfrm>
          <a:prstGeom prst="rect">
            <a:avLst/>
          </a:prstGeom>
          <a:solidFill>
            <a:srgbClr val="073F4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209544"/>
            <a:ext cx="23774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Account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37560" y="3209544"/>
            <a:ext cx="44805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fee to publish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Play Store (Android)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92440" y="3209544"/>
            <a:ext cx="21031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(one-time)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9784080" cy="777240"/>
          </a:xfrm>
          <a:prstGeom prst="rect">
            <a:avLst/>
          </a:prstGeom>
          <a:solidFill>
            <a:srgbClr val="05414A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986784"/>
            <a:ext cx="23774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Developer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37560" y="3986784"/>
            <a:ext cx="44805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to publish 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Store (iOS)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092440" y="3986784"/>
            <a:ext cx="21031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8,200 / year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709160"/>
            <a:ext cx="9784080" cy="777240"/>
          </a:xfrm>
          <a:prstGeom prst="rect">
            <a:avLst/>
          </a:prstGeom>
          <a:solidFill>
            <a:srgbClr val="073F47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764024"/>
            <a:ext cx="23774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Certificate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37560" y="4764024"/>
            <a:ext cx="44805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- often free via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Encrypt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92440" y="4764024"/>
            <a:ext cx="21031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9784080" cy="0"/>
          </a:xfrm>
          <a:prstGeom prst="line">
            <a:avLst/>
          </a:prstGeom>
          <a:noFill/>
          <a:ln w="12700">
            <a:solidFill>
              <a:srgbClr val="0A5A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Management System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One-Time/Annual Subtotal: Rs 11,300 (approx.)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BUDGET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&amp; API services - recurring, monthly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services that keep the system running once it's live.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978408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337560" y="19202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92440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(Rs/month)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9784080" cy="566928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3230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hosting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(Render/Railway/VPS)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37560" y="243230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Node.js/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server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92440" y="243230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944368"/>
            <a:ext cx="97840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9992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(managed - e.g. Render Postgres)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37560" y="299923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database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backups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92440" y="299923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511296"/>
            <a:ext cx="9784080" cy="566928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566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(Blaze plan)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37560" y="35661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free tier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092440" y="3566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078224"/>
            <a:ext cx="97840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13308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37560" y="413308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map, routing,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92440" y="413308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(buffer beyond free credit)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645152"/>
            <a:ext cx="9784080" cy="566928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70001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/ MSG91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credits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37560" y="470001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and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alerts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092440" y="470001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212080"/>
            <a:ext cx="9784080" cy="0"/>
          </a:xfrm>
          <a:prstGeom prst="line">
            <a:avLst/>
          </a:prstGeom>
          <a:noFill/>
          <a:ln w="12700">
            <a:solidFill>
              <a:srgbClr val="DCED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Management System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5486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Recurring Subtotal: Rs 4,050/month -&gt; Rs 48,600/year (approx.)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5852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many of these have free tiers sufficient for early development/testing; paid tiers become necessary only once the system goes live campus-wide.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BUDGET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 / recommended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 to launch, but cheap insurance once the system is live.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978408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337560" y="19202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92440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(Rs)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9784080" cy="914400"/>
          </a:xfrm>
          <a:prstGeom prst="rect">
            <a:avLst/>
          </a:prstGeom>
          <a:solidFill>
            <a:srgbClr val="05414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32304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monitoring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37560" y="2432304"/>
            <a:ext cx="4480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production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early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92440" y="2432304"/>
            <a:ext cx="2103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(free tier sufficient)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9784080" cy="914400"/>
          </a:xfrm>
          <a:prstGeom prst="rect">
            <a:avLst/>
          </a:prstGeom>
          <a:solidFill>
            <a:srgbClr val="073F4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346704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UptimeRobot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37560" y="3346704"/>
            <a:ext cx="4480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if backend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down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92440" y="3346704"/>
            <a:ext cx="2103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(free tier sufficient)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9784080" cy="0"/>
          </a:xfrm>
          <a:prstGeom prst="line">
            <a:avLst/>
          </a:prstGeom>
          <a:noFill/>
          <a:ln w="12700">
            <a:solidFill>
              <a:srgbClr val="0A5A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Management System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BUDGET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estimated budget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are approximate market estimates as of 2026 and will vary by vendor, region, and bulk/institutional pricing.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3200400" cy="1920240"/>
          </a:xfrm>
          <a:prstGeom prst="roundRect">
            <a:avLst>
              <a:gd name="adj" fmla="val 5714"/>
            </a:avLst>
          </a:prstGeom>
          <a:solidFill>
            <a:srgbClr val="05414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4231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(one-time)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32461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14,000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43400" y="2194560"/>
            <a:ext cx="3200400" cy="1920240"/>
          </a:xfrm>
          <a:prstGeom prst="roundRect">
            <a:avLst>
              <a:gd name="adj" fmla="val 5714"/>
            </a:avLst>
          </a:prstGeom>
          <a:solidFill>
            <a:srgbClr val="05414A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24231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Software/Services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(one-time + annual)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6280" y="32461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11,300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909560" y="2194560"/>
            <a:ext cx="3200400" cy="1920240"/>
          </a:xfrm>
          <a:prstGeom prst="roundRect">
            <a:avLst>
              <a:gd name="adj" fmla="val 5714"/>
            </a:avLst>
          </a:prstGeom>
          <a:solidFill>
            <a:srgbClr val="05414A"/>
          </a:solidFill>
          <a:ln/>
        </p:spPr>
      </p:sp>
      <p:sp>
        <p:nvSpPr>
          <p:cNvPr id="12" name="Text 10"/>
          <p:cNvSpPr/>
          <p:nvPr/>
        </p:nvSpPr>
        <p:spPr>
          <a:xfrm>
            <a:off x="8092440" y="24231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&amp; API Services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(first year, recurring)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92440" y="32461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48,600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7240" y="4480560"/>
            <a:ext cx="10607040" cy="1371600"/>
          </a:xfrm>
          <a:prstGeom prst="roundRect">
            <a:avLst>
              <a:gd name="adj" fmla="val 9333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663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TOTAL - YEAR 1 (APPROX.)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75120" y="457200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02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73,900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548640" y="6035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cloud costs can start at Rs 0 using free tiers during development, scaling up only once the system is live campus-wide.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Management System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2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4572000" cy="457200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65176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370332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 are welcome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2026-07-31T05:19:49Z</dcterms:created>
  <dcterms:modified xsi:type="dcterms:W3CDTF">2026-07-31T05:19:49Z</dcterms:modified>
</cp:coreProperties>
</file>